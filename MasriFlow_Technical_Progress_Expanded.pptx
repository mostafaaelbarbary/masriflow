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780fdaed5b4e74" /><Relationship Type="http://schemas.openxmlformats.org/officeDocument/2006/relationships/extended-properties" Target="/docProps/app.xml" Id="R638201aa8cac4a22" /><Relationship Type="http://schemas.openxmlformats.org/officeDocument/2006/relationships/officeDocument" Target="/ppt/presentation.xml" Id="R137598740c694a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49c66d893475f"/>
  </p:sldMasterIdLst>
  <p:notesMasterIdLst>
    <p:notesMasterId xmlns:r="http://schemas.openxmlformats.org/officeDocument/2006/relationships" r:id="R9584f66212d74127"/>
  </p:notesMasterIdLst>
  <p:sldIdLst>
    <p:sldId xmlns:r="http://schemas.openxmlformats.org/officeDocument/2006/relationships" id="256" r:id="R69ba9219019a41a8"/>
    <p:sldId xmlns:r="http://schemas.openxmlformats.org/officeDocument/2006/relationships" id="257" r:id="R72fcd0a857304bdd"/>
    <p:sldId xmlns:r="http://schemas.openxmlformats.org/officeDocument/2006/relationships" id="258" r:id="R47bd411c4b394796"/>
    <p:sldId xmlns:r="http://schemas.openxmlformats.org/officeDocument/2006/relationships" id="259" r:id="R6c1a948a2b954d7e"/>
    <p:sldId xmlns:r="http://schemas.openxmlformats.org/officeDocument/2006/relationships" id="260" r:id="R847741712b1842fb"/>
    <p:sldId xmlns:r="http://schemas.openxmlformats.org/officeDocument/2006/relationships" id="261" r:id="Re39a27fad3bc4506"/>
    <p:sldId xmlns:r="http://schemas.openxmlformats.org/officeDocument/2006/relationships" id="262" r:id="Rdd166b52f98549fb"/>
    <p:sldId xmlns:r="http://schemas.openxmlformats.org/officeDocument/2006/relationships" id="263" r:id="Rddc23261525d4f98"/>
    <p:sldId xmlns:r="http://schemas.openxmlformats.org/officeDocument/2006/relationships" id="264" r:id="R4c326a444c5a4b76"/>
    <p:sldId xmlns:r="http://schemas.openxmlformats.org/officeDocument/2006/relationships" id="265" r:id="Rc86af27baad84bde"/>
    <p:sldId xmlns:r="http://schemas.openxmlformats.org/officeDocument/2006/relationships" id="266" r:id="R06a9eac2cba24ec5"/>
    <p:sldId xmlns:r="http://schemas.openxmlformats.org/officeDocument/2006/relationships" id="267" r:id="R676e5e7bed9f4867"/>
    <p:sldId xmlns:r="http://schemas.openxmlformats.org/officeDocument/2006/relationships" id="268" r:id="Rd81eef5e0a3740ab"/>
    <p:sldId xmlns:r="http://schemas.openxmlformats.org/officeDocument/2006/relationships" id="269" r:id="Rdd1dade3d58b4741"/>
    <p:sldId xmlns:r="http://schemas.openxmlformats.org/officeDocument/2006/relationships" id="270" r:id="R318f7223c95c4a98"/>
    <p:sldId xmlns:r="http://schemas.openxmlformats.org/officeDocument/2006/relationships" id="271" r:id="R870fe202770c46e4"/>
    <p:sldId xmlns:r="http://schemas.openxmlformats.org/officeDocument/2006/relationships" id="272" r:id="Rae1bf84d01ae48b8"/>
    <p:sldId xmlns:r="http://schemas.openxmlformats.org/officeDocument/2006/relationships" id="273" r:id="Ra47b07ebcfb944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dc78b3e5f04e48" /><Relationship Type="http://schemas.openxmlformats.org/officeDocument/2006/relationships/slideMaster" Target="/ppt/slideMasters/slideMaster1.xml" Id="R3ce49c66d893475f" /><Relationship Type="http://schemas.openxmlformats.org/officeDocument/2006/relationships/notesMaster" Target="/ppt/notesMasters/notesMaster1.xml" Id="R9584f66212d74127" /><Relationship Type="http://schemas.openxmlformats.org/officeDocument/2006/relationships/presProps" Target="/ppt/presProps.xml" Id="Rf001099e980a40c4" /><Relationship Type="http://schemas.openxmlformats.org/officeDocument/2006/relationships/tableStyles" Target="/ppt/tableStyles.xml" Id="Rbd9813f291f74fad" /><Relationship Type="http://schemas.openxmlformats.org/officeDocument/2006/relationships/slide" Target="/ppt/slides/slide1.xml" Id="R69ba9219019a41a8" /><Relationship Type="http://schemas.openxmlformats.org/officeDocument/2006/relationships/slide" Target="/ppt/slides/slide2.xml" Id="R72fcd0a857304bdd" /><Relationship Type="http://schemas.openxmlformats.org/officeDocument/2006/relationships/slide" Target="/ppt/slides/slide3.xml" Id="R47bd411c4b394796" /><Relationship Type="http://schemas.openxmlformats.org/officeDocument/2006/relationships/slide" Target="/ppt/slides/slide4.xml" Id="R6c1a948a2b954d7e" /><Relationship Type="http://schemas.openxmlformats.org/officeDocument/2006/relationships/slide" Target="/ppt/slides/slide5.xml" Id="R847741712b1842fb" /><Relationship Type="http://schemas.openxmlformats.org/officeDocument/2006/relationships/slide" Target="/ppt/slides/slide6.xml" Id="Re39a27fad3bc4506" /><Relationship Type="http://schemas.openxmlformats.org/officeDocument/2006/relationships/slide" Target="/ppt/slides/slide7.xml" Id="Rdd166b52f98549fb" /><Relationship Type="http://schemas.openxmlformats.org/officeDocument/2006/relationships/slide" Target="/ppt/slides/slide8.xml" Id="Rddc23261525d4f98" /><Relationship Type="http://schemas.openxmlformats.org/officeDocument/2006/relationships/slide" Target="/ppt/slides/slide9.xml" Id="R4c326a444c5a4b76" /><Relationship Type="http://schemas.openxmlformats.org/officeDocument/2006/relationships/slide" Target="/ppt/slides/slide10.xml" Id="Rc86af27baad84bde" /><Relationship Type="http://schemas.openxmlformats.org/officeDocument/2006/relationships/slide" Target="/ppt/slides/slide11.xml" Id="R06a9eac2cba24ec5" /><Relationship Type="http://schemas.openxmlformats.org/officeDocument/2006/relationships/slide" Target="/ppt/slides/slide12.xml" Id="R676e5e7bed9f4867" /><Relationship Type="http://schemas.openxmlformats.org/officeDocument/2006/relationships/slide" Target="/ppt/slides/slide13.xml" Id="Rd81eef5e0a3740ab" /><Relationship Type="http://schemas.openxmlformats.org/officeDocument/2006/relationships/slide" Target="/ppt/slides/slide14.xml" Id="Rdd1dade3d58b4741" /><Relationship Type="http://schemas.openxmlformats.org/officeDocument/2006/relationships/slide" Target="/ppt/slides/slide15.xml" Id="R318f7223c95c4a98" /><Relationship Type="http://schemas.openxmlformats.org/officeDocument/2006/relationships/slide" Target="/ppt/slides/slide16.xml" Id="R870fe202770c46e4" /><Relationship Type="http://schemas.openxmlformats.org/officeDocument/2006/relationships/slide" Target="/ppt/slides/slide17.xml" Id="Rae1bf84d01ae48b8" /><Relationship Type="http://schemas.openxmlformats.org/officeDocument/2006/relationships/slide" Target="/ppt/slides/slide18.xml" Id="Ra47b07ebcfb9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052f0f9466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93355ce7f2461a" /><Relationship Type="http://schemas.openxmlformats.org/officeDocument/2006/relationships/notesMaster" Target="/ppt/notesMasters/notesMaster1.xml" Id="R036307cf20614b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bb5c5a55ed4be4" /><Relationship Type="http://schemas.openxmlformats.org/officeDocument/2006/relationships/notesMaster" Target="/ppt/notesMasters/notesMaster1.xml" Id="R713f92b4ac924e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c6ceb936be407a" /><Relationship Type="http://schemas.openxmlformats.org/officeDocument/2006/relationships/notesMaster" Target="/ppt/notesMasters/notesMaster1.xml" Id="Rbce622d1a1db4d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ef4963de7045dd" /><Relationship Type="http://schemas.openxmlformats.org/officeDocument/2006/relationships/notesMaster" Target="/ppt/notesMasters/notesMaster1.xml" Id="R2dd879691bcf48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6f91594407490d" /><Relationship Type="http://schemas.openxmlformats.org/officeDocument/2006/relationships/notesMaster" Target="/ppt/notesMasters/notesMaster1.xml" Id="R7d6153b89ce942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ea9fef009f4fc6" /><Relationship Type="http://schemas.openxmlformats.org/officeDocument/2006/relationships/notesMaster" Target="/ppt/notesMasters/notesMaster1.xml" Id="Rbee3911118594e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3eeefdd6e64850" /><Relationship Type="http://schemas.openxmlformats.org/officeDocument/2006/relationships/notesMaster" Target="/ppt/notesMasters/notesMaster1.xml" Id="R905a7ae4d7db4b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2489856da14fa0" /><Relationship Type="http://schemas.openxmlformats.org/officeDocument/2006/relationships/notesMaster" Target="/ppt/notesMasters/notesMaster1.xml" Id="Re98f1dffced544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2fb847ff384cf6" /><Relationship Type="http://schemas.openxmlformats.org/officeDocument/2006/relationships/notesMaster" Target="/ppt/notesMasters/notesMaster1.xml" Id="Rbe24cb1c216a42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d96ba6a1ec48dc" /><Relationship Type="http://schemas.openxmlformats.org/officeDocument/2006/relationships/notesMaster" Target="/ppt/notesMasters/notesMaster1.xml" Id="R29c1b98fd1754a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781a8003454004" /><Relationship Type="http://schemas.openxmlformats.org/officeDocument/2006/relationships/notesMaster" Target="/ppt/notesMasters/notesMaster1.xml" Id="R5dcba681a6e34b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74e59bef8c4acd" /><Relationship Type="http://schemas.openxmlformats.org/officeDocument/2006/relationships/notesMaster" Target="/ppt/notesMasters/notesMaster1.xml" Id="R03faed494ae142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df16d787fe4fa0" /><Relationship Type="http://schemas.openxmlformats.org/officeDocument/2006/relationships/notesMaster" Target="/ppt/notesMasters/notesMaster1.xml" Id="R5fbcb463c2e44d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c6be1d769f4b18" /><Relationship Type="http://schemas.openxmlformats.org/officeDocument/2006/relationships/notesMaster" Target="/ppt/notesMasters/notesMaster1.xml" Id="Rf54660d1354c4b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8d06f498c74119" /><Relationship Type="http://schemas.openxmlformats.org/officeDocument/2006/relationships/notesMaster" Target="/ppt/notesMasters/notesMaster1.xml" Id="R91c9e496954b41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848a77476a486b" /><Relationship Type="http://schemas.openxmlformats.org/officeDocument/2006/relationships/notesMaster" Target="/ppt/notesMasters/notesMaster1.xml" Id="R38dc3505fd004b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801440535843fd" /><Relationship Type="http://schemas.openxmlformats.org/officeDocument/2006/relationships/notesMaster" Target="/ppt/notesMasters/notesMaster1.xml" Id="R5e18aa74ca8d4a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1afe4a606a4a46" /><Relationship Type="http://schemas.openxmlformats.org/officeDocument/2006/relationships/notesMaster" Target="/ppt/notesMasters/notesMaster1.xml" Id="R2f802d89b3d048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https://huggingface.co/mohammedaly22/QwenCleo-ASR</a:t>
            </a:r>
          </a:p>
          <a:p xmlns:a="http://schemas.openxmlformats.org/drawingml/2006/main">
            <a:r>
              <a:t>https://huggingface.co/Qwen/Qwen3-4B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https://huggingface.co/mohammedaly22/QwenCleo-ASR</a:t>
            </a:r>
          </a:p>
          <a:p xmlns:a="http://schemas.openxmlformats.org/drawingml/2006/main">
            <a:r>
              <a:t>https://huggingface.co/Qwen/Qwen3-4B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https://github.com/resemble-ai/chatterbox</a:t>
            </a:r>
          </a:p>
          <a:p xmlns:a="http://schemas.openxmlformats.org/drawingml/2006/main">
            <a:r>
              <a:t>https://huggingface.co/AliAbdallah/egyptian-arabic-tts-chatterbox</a:t>
            </a:r>
          </a:p>
          <a:p xmlns:a="http://schemas.openxmlformats.org/drawingml/2006/main">
            <a:r>
              <a:t>https://huggingface.co/KickItLikeShika/NileTTS-XTTS</a:t>
            </a:r>
          </a:p>
          <a:p xmlns:a="http://schemas.openxmlformats.org/drawingml/2006/main">
            <a:r>
              <a:t>https://huggingface.co/coqui/XTTS-v2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https://huggingface.co/mohammedaly22/QwenCleo-ASR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https://huggingface.co/Qwen/Qwen3-4B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 code, local runtime logs, and empirical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https://streamlit.io/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d2c9762154b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1234e05f8d48fb" /><Relationship Type="http://schemas.openxmlformats.org/officeDocument/2006/relationships/slideLayout" Target="/ppt/slideLayouts/slideLayout1.xml" Id="Rcb68d1583aec4a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68d1583aec4a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bd43db2764c97" /><Relationship Type="http://schemas.openxmlformats.org/officeDocument/2006/relationships/notesSlide" Target="/ppt/notesSlides/notesSlide1.xml" Id="R80ecff0dffbc48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a3e9948c247f9" /><Relationship Type="http://schemas.openxmlformats.org/officeDocument/2006/relationships/notesSlide" Target="/ppt/notesSlides/notesSlide2.xml" Id="Rc09f45eca50d49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a0308281f4530" /><Relationship Type="http://schemas.openxmlformats.org/officeDocument/2006/relationships/notesSlide" Target="/ppt/notesSlides/notesSlide3.xml" Id="Rf30f8179742a45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64ff372f04dec" /><Relationship Type="http://schemas.openxmlformats.org/officeDocument/2006/relationships/notesSlide" Target="/ppt/notesSlides/notesSlide4.xml" Id="R371160b3690049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c702d8fd54a5e" /><Relationship Type="http://schemas.openxmlformats.org/officeDocument/2006/relationships/notesSlide" Target="/ppt/notesSlides/notesSlide5.xml" Id="Re7fc59f0229e4e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438c036524e12" /><Relationship Type="http://schemas.openxmlformats.org/officeDocument/2006/relationships/notesSlide" Target="/ppt/notesSlides/notesSlide6.xml" Id="R85db65a2e75a4d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7e2e208254c04" /><Relationship Type="http://schemas.openxmlformats.org/officeDocument/2006/relationships/notesSlide" Target="/ppt/notesSlides/notesSlide7.xml" Id="R942894f625714d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fef5a7da34385" /><Relationship Type="http://schemas.openxmlformats.org/officeDocument/2006/relationships/notesSlide" Target="/ppt/notesSlides/notesSlide8.xml" Id="R0b66bf9a8f6f49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3d15fbf044980" /><Relationship Type="http://schemas.openxmlformats.org/officeDocument/2006/relationships/notesSlide" Target="/ppt/notesSlides/notesSlide9.xml" Id="Rf13af94c5bf745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0e692fedf4644" /><Relationship Type="http://schemas.openxmlformats.org/officeDocument/2006/relationships/notesSlide" Target="/ppt/notesSlides/notesSlide10.xml" Id="Rf7546dd681834b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5434477ea4e04" /><Relationship Type="http://schemas.openxmlformats.org/officeDocument/2006/relationships/notesSlide" Target="/ppt/notesSlides/notesSlide11.xml" Id="R640a51a2885843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6584a47744d6d" /><Relationship Type="http://schemas.openxmlformats.org/officeDocument/2006/relationships/notesSlide" Target="/ppt/notesSlides/notesSlide12.xml" Id="R8fafe3e1da5b47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cf7e495f4447a" /><Relationship Type="http://schemas.openxmlformats.org/officeDocument/2006/relationships/notesSlide" Target="/ppt/notesSlides/notesSlide13.xml" Id="Ra562a911078149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990cde0b243f2" /><Relationship Type="http://schemas.openxmlformats.org/officeDocument/2006/relationships/notesSlide" Target="/ppt/notesSlides/notesSlide14.xml" Id="R31a2fbb666b449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31632580b444b" /><Relationship Type="http://schemas.openxmlformats.org/officeDocument/2006/relationships/notesSlide" Target="/ppt/notesSlides/notesSlide15.xml" Id="R846789c3a11345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21942381441b0" /><Relationship Type="http://schemas.openxmlformats.org/officeDocument/2006/relationships/notesSlide" Target="/ppt/notesSlides/notesSlide16.xml" Id="R16157d0daf654b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348159e114cd9" /><Relationship Type="http://schemas.openxmlformats.org/officeDocument/2006/relationships/notesSlide" Target="/ppt/notesSlides/notesSlide17.xml" Id="Rb1aa7a30f02e4f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82de536f34c3a" /><Relationship Type="http://schemas.openxmlformats.org/officeDocument/2006/relationships/notesSlide" Target="/ppt/notesSlides/notesSlide18.xml" Id="R2c7e5813179f46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CC73E-A73E-498F-AC60-D140ECC8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BD6"/>
                </a:solidFill>
              </a:defRPr>
            </a:pPr>
            <a:r>
              <a:rPr sz="1125" b="1">
                <a:solidFill>
                  <a:srgbClr val="315BD6"/>
                </a:solidFill>
              </a:rPr>
              <a:t>MASRIFLOW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95F28-9E13-4651-A28B-F7285EF2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Local Egyptian Arabic</a:t>
            </a:r>
          </a:p>
          <a:p xmlns:a="http://schemas.openxmlformats.org/drawingml/2006/main">
            <a:pPr algn="l"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Voice Collections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FD05A-9A9D-4AC2-804D-C9A7CA43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189"/>
                </a:solidFill>
              </a:defRPr>
            </a:pPr>
            <a:r>
              <a:rPr sz="1650" b="0">
                <a:solidFill>
                  <a:srgbClr val="657189"/>
                </a:solidFill>
              </a:rPr>
              <a:t>Technical progress, model decisions, failures, and stabilization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CA9A4-B08C-420A-AE8E-FC934B87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F5CF6-FFC6-4D43-AF61-9ADDE732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B99A"/>
                </a:solidFill>
              </a:defRPr>
            </a:pPr>
            <a:r>
              <a:rPr sz="1050" b="1">
                <a:solidFill>
                  <a:srgbClr val="25B99A"/>
                </a:solidFill>
              </a:rPr>
              <a:t>LOCAL-FIRST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B507B-DCD0-4851-8870-25141397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71950"/>
            <a:ext cx="1809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59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FE701-B555-447F-B965-D1EB40F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71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59F5"/>
                </a:solidFill>
              </a:defRPr>
            </a:pPr>
            <a:r>
              <a:rPr sz="1050" b="1">
                <a:solidFill>
                  <a:srgbClr val="7059F5"/>
                </a:solidFill>
              </a:rPr>
              <a:t>EGYPTIAN ARABIC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E1109-65F7-4DEA-B8E3-AE8559E1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565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44E52-1E49-4B89-A788-D7F3A166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71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565D"/>
                </a:solidFill>
              </a:defRPr>
            </a:pPr>
            <a:r>
              <a:rPr sz="1050" b="1">
                <a:solidFill>
                  <a:srgbClr val="FF565D"/>
                </a:solidFill>
              </a:rPr>
              <a:t>AUG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A4AF6-C7D8-4F12-8D3E-52FCF27F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0150"/>
            <a:ext cx="2857500" cy="2857500"/>
          </a:xfrm>
          <a:prstGeom xmlns:a="http://schemas.openxmlformats.org/drawingml/2006/main" prst="ellipse">
            <a:avLst/>
          </a:prstGeom>
          <a:ln xmlns:a="http://schemas.openxmlformats.org/drawingml/2006/main" w="1143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754FC-4BB0-4CFB-BD81-407853EE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2880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7620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84600-BA53-4799-8962-85007BA5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28800"/>
            <a:ext cx="1600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AECC8-7EEE-4A2F-A3D4-565669F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638"/>
                </a:solidFill>
              </a:defRPr>
            </a:pPr>
            <a:r>
              <a:rPr sz="1500" b="1">
                <a:solidFill>
                  <a:srgbClr val="1D2638"/>
                </a:solidFill>
              </a:rPr>
              <a:t>QwenCleo  →  Qwen3  →  Guardrails  →  Hoda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0F02F-4E40-4D56-87D7-95A77D3D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9A1DD-14FA-4D6E-8BAC-842FF32E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3998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D921B9-9B4D-4CF4-9997-09F8C5B7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01 / PRODUCT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EBB98-F374-418D-B6F4-208BD37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system must complete a secure collection conversation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40BCC-7846-4560-BF76-6E4E09C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The target is not transcription alone—it is an auditable payment-promise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118B7-6F55-444C-A696-E3104A4C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D6"/>
          </a:solidFill>
          <a:ln xmlns:a="http://schemas.openxmlformats.org/drawingml/2006/main" w="0">
            <a:solidFill>
              <a:srgbClr val="315B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1EE01-711E-474E-B687-CFF34D25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3A8D5-F219-48E8-9646-0CFDBD98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7C87E-BD8B-433B-87ED-A172B7E0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Reach the registered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D29C9-F8C5-4A4E-BC7A-A9E6B432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D5D0"/>
                </a:solidFill>
              </a:defRPr>
            </a:pPr>
            <a:r>
              <a:rPr sz="2100" b="1">
                <a:solidFill>
                  <a:srgbClr val="38D5D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64019-D12F-48FF-9227-A3778BA5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D6"/>
          </a:solidFill>
          <a:ln xmlns:a="http://schemas.openxmlformats.org/drawingml/2006/main" w="0">
            <a:solidFill>
              <a:srgbClr val="315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7F8EE-EDEE-426B-B4B2-00D45084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3FBB5-D344-4FD3-9213-DEDE4F63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Understand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7D853-6F78-4695-A3B3-573532F3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Transcribe Egyptian speech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3AA0-752A-406F-996E-AF860B45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D5D0"/>
                </a:solidFill>
              </a:defRPr>
            </a:pPr>
            <a:r>
              <a:rPr sz="2100" b="1">
                <a:solidFill>
                  <a:srgbClr val="38D5D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D2477-548B-4A70-A21D-CDB5FA6D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D6"/>
          </a:solidFill>
          <a:ln xmlns:a="http://schemas.openxmlformats.org/drawingml/2006/main" w="0">
            <a:solidFill>
              <a:srgbClr val="315B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E1259-2132-4B3A-9EB0-E41F085E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98784-EC81-4008-9407-5B34938D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A8EAA-7349-440E-820E-C06EA7F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Handle objections and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44645-8163-4FF3-A4F5-8730B0E4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81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D5D0"/>
                </a:solidFill>
              </a:defRPr>
            </a:pPr>
            <a:r>
              <a:rPr sz="2100" b="1">
                <a:solidFill>
                  <a:srgbClr val="38D5D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19BB3-BEEE-4380-9C35-4D0ABA32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D6"/>
          </a:solidFill>
          <a:ln xmlns:a="http://schemas.openxmlformats.org/drawingml/2006/main" w="0">
            <a:solidFill>
              <a:srgbClr val="315B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40BD3-8170-43F2-86DF-A27074E9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F9C8A-3493-48B0-9DE6-EB0F521D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90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Confirm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E9A1B-158D-453B-8ED3-430F56E8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718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Secure a valid payment 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10ACF-5670-45DF-A9D0-17BD2F5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D5D0"/>
                </a:solidFill>
              </a:defRPr>
            </a:pPr>
            <a:r>
              <a:rPr sz="2100" b="1">
                <a:solidFill>
                  <a:srgbClr val="38D5D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A16A3-4383-4EC2-B1CF-84A072F7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9A"/>
          </a:solidFill>
          <a:ln xmlns:a="http://schemas.openxmlformats.org/drawingml/2006/main" w="0">
            <a:solidFill>
              <a:srgbClr val="25B9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BC266-66B5-4DEF-A361-5D1172A2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1A74B2-17BA-4969-8E99-B3A07756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90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AE61D3-9D0C-42EF-858A-2C1941B8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Save the promise locally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0EFC5-9F0F-4883-9071-F19F4DD1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F5FF"/>
          </a:solidFill>
          <a:ln xmlns:a="http://schemas.openxmlformats.org/drawingml/2006/main" w="9525">
            <a:solidFill>
              <a:srgbClr val="C9D8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873B3D-589E-48DE-B896-A047A16B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BD6"/>
                </a:solidFill>
              </a:defRPr>
            </a:pPr>
            <a:r>
              <a:rPr sz="1350" b="1">
                <a:solidFill>
                  <a:srgbClr val="315BD6"/>
                </a:solidFill>
              </a:rPr>
              <a:t>Success criterion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66CC6B-A402-4552-8ABE-AAB01CD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 customer can speak naturally, receive a compliant Egyptian-Arabic reply, confirm a date within policy, and leave a traceable local record.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5CA4D8-8463-429A-B950-2B46CBB3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C94FC-6D92-420C-A84A-A12A72A9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12083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CB4C7-11C7-4930-91BE-158B2220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02 / CURRENT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2E408-6A0E-4C2F-B865-877435E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 four-stage local pipeline is now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E467B-BA18-4B88-8358-15BEAC0A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Each stage is isolated so model failures do not silently corrupt downstream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3C6FC-33B8-4CDB-B4CB-9B004168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952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5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E7F49-0505-4B24-B21A-DDB79417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65D"/>
                </a:solidFill>
              </a:defRPr>
            </a:pPr>
            <a:r>
              <a:rPr sz="1125" b="1">
                <a:solidFill>
                  <a:srgbClr val="FF565D"/>
                </a:solidFill>
              </a:rPr>
              <a:t>MIC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3EF4E-9C94-47D8-A027-5BC591EF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Browser audio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+ silence detection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70AF8-5190-4977-8545-4D5B96A3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71800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BD6"/>
                </a:solidFill>
              </a:defRPr>
            </a:pPr>
            <a:r>
              <a:rPr sz="2100" b="1">
                <a:solidFill>
                  <a:srgbClr val="315BD6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0F83F-E943-4CFA-9BD5-A8202378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86000"/>
            <a:ext cx="1952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8D5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D3ADB-7824-49DC-BAA6-1A6CDBED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5D0"/>
                </a:solidFill>
              </a:defRPr>
            </a:pPr>
            <a:r>
              <a:rPr sz="1125" b="1">
                <a:solidFill>
                  <a:srgbClr val="38D5D0"/>
                </a:solidFill>
              </a:rPr>
              <a:t>ASR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BC638-CDDA-4368-ABC3-6AC3D7D8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QwenCleo-ASR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Egyptian transcript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68462-06B5-41B5-9CBF-82E15B2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71800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BD6"/>
                </a:solidFill>
              </a:defRPr>
            </a:pPr>
            <a:r>
              <a:rPr sz="2100" b="1">
                <a:solidFill>
                  <a:srgbClr val="315BD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7E083-10AF-4E77-8E9C-CDD0E037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86000"/>
            <a:ext cx="1952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59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02DD2-7349-4B4F-958D-801F468B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59F5"/>
                </a:solidFill>
              </a:defRPr>
            </a:pPr>
            <a:r>
              <a:rPr sz="1125" b="1">
                <a:solidFill>
                  <a:srgbClr val="7059F5"/>
                </a:solidFill>
              </a:rPr>
              <a:t>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98084-0FA7-4806-B9FA-0A15CD53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14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Qwen3-4B Q4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conversation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8EF91-5169-41DB-8459-886C78E5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71800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BD6"/>
                </a:solidFill>
              </a:defRPr>
            </a:pPr>
            <a:r>
              <a:rPr sz="2100" b="1">
                <a:solidFill>
                  <a:srgbClr val="315BD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2877B-EDDD-47EA-B9A9-A969719E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1952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9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F8D70-2A72-4DD6-BFD3-3942802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57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A92A"/>
                </a:solidFill>
              </a:defRPr>
            </a:pPr>
            <a:r>
              <a:rPr sz="1125" b="1">
                <a:solidFill>
                  <a:srgbClr val="E7A92A"/>
                </a:solidFill>
              </a:rPr>
              <a:t>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34C61-FA92-47A9-A46A-4BA944AA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Python state machine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dates + identity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6E4A0-006E-4A39-AAAA-2FCBBD7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71800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15BD6"/>
                </a:solidFill>
              </a:defRPr>
            </a:pPr>
            <a:r>
              <a:rPr sz="2100" b="1">
                <a:solidFill>
                  <a:srgbClr val="315BD6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457F8-F482-40E4-A1EC-36B50A4B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86000"/>
            <a:ext cx="19526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4BFFD-2A57-4F64-B0F2-16D7E430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574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B99A"/>
                </a:solidFill>
              </a:defRPr>
            </a:pPr>
            <a:r>
              <a:rPr sz="1125" b="1">
                <a:solidFill>
                  <a:srgbClr val="25B99A"/>
                </a:solidFill>
              </a:rPr>
              <a:t>VOICE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2F817-14EF-472A-B30C-DF82B5AF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1465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Microsoft Hoda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local ar-EG speech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CD966-F708-4814-AA2F-252C852D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BD6"/>
                </a:solidFill>
              </a:defRPr>
            </a:pPr>
            <a:r>
              <a:rPr sz="1350" b="1">
                <a:solidFill>
                  <a:srgbClr val="315BD6"/>
                </a:solidFill>
              </a:rPr>
              <a:t>Local storage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F150E-E02C-46D2-929B-9564465D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638"/>
                </a:solidFill>
              </a:defRPr>
            </a:pPr>
            <a:r>
              <a:rPr sz="1350" b="0">
                <a:solidFill>
                  <a:srgbClr val="1D2638"/>
                </a:solidFill>
              </a:rPr>
              <a:t>Conversation history  •  payment promises  •  model caches on D: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5B4FF-FC34-426E-AC14-2D09D0CC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BB5057-81CB-45D7-A2AC-867C6150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043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Principle: LLM interprets language; deterministic code owns financial actions.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78E2C-A233-4915-AA8C-36FA2649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920DF0-2408-4FAE-B177-1B80AFBD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7908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2AADF6-29A7-42DE-9E75-600BEDD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03 / MODEL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F2ADF-69A7-440E-B869-6302470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Local test results—not model cards—drove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16856-342B-48C6-93B8-950AD34B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A67CA-4CE8-429E-9186-764F0471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24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FC4DE-B220-4200-9AF4-77CBE00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1254F-7DBD-49B1-A45B-F5CDCE17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240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Engineering rationale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9F3E0-DA36-4819-B31E-64D15F4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01621-4568-4C4F-A6EB-8EA9C38A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638"/>
                </a:solidFill>
              </a:defRPr>
            </a:pPr>
            <a:r>
              <a:rPr sz="1275" b="1">
                <a:solidFill>
                  <a:srgbClr val="1D2638"/>
                </a:solidFill>
              </a:rPr>
              <a:t>Speech recognition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D6337-4777-48DE-B3A0-BDE02076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50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QwenCleo-ASR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D0CBD-43A3-4B4A-8480-1150BE88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1333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B0A8A-9B9E-4784-A398-0561CA2D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B99A"/>
                </a:solidFill>
              </a:defRPr>
            </a:pPr>
            <a:r>
              <a:rPr sz="1050" b="1">
                <a:solidFill>
                  <a:srgbClr val="25B99A"/>
                </a:solidFill>
              </a:rPr>
              <a:t>SELECTED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1E3AD-B3B8-4CBC-8969-349D75D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638"/>
                </a:solidFill>
              </a:defRPr>
            </a:pPr>
            <a:r>
              <a:rPr sz="1200" b="0">
                <a:solidFill>
                  <a:srgbClr val="1D2638"/>
                </a:solidFill>
              </a:rPr>
              <a:t>Best observed Egyptian transcription; local CPU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427FF-D3DB-47B0-BEA7-26F27B40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F781A-48CF-4F5A-ACAE-FB5F1435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638"/>
                </a:solidFill>
              </a:defRPr>
            </a:pPr>
            <a:r>
              <a:rPr sz="1275" b="1">
                <a:solidFill>
                  <a:srgbClr val="1D2638"/>
                </a:solidFill>
              </a:rPr>
              <a:t>Conversation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8481C-E955-4774-B5DE-9A5D2B25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908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Qwen3-4B Q4_K_M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7603D-114A-4E33-AC23-3F7A0E32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333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E22C9-82CA-4043-AB39-E18FE05B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B99A"/>
                </a:solidFill>
              </a:defRPr>
            </a:pPr>
            <a:r>
              <a:rPr sz="1050" b="1">
                <a:solidFill>
                  <a:srgbClr val="25B99A"/>
                </a:solidFill>
              </a:rPr>
              <a:t>SELECTED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616F0-1786-451F-BCBF-BF7922B7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638"/>
                </a:solidFill>
              </a:defRPr>
            </a:pPr>
            <a:r>
              <a:rPr sz="1200" b="0">
                <a:solidFill>
                  <a:srgbClr val="1D2638"/>
                </a:solidFill>
              </a:rPr>
              <a:t>Local, private, but needs prompt + state safeguards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AC12A-237E-480F-8E53-2572BEE7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BE2F8-59FE-4A3A-B183-3D9C184F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638"/>
                </a:solidFill>
              </a:defRPr>
            </a:pPr>
            <a:r>
              <a:rPr sz="1275" b="1">
                <a:solidFill>
                  <a:srgbClr val="1D2638"/>
                </a:solidFill>
              </a:rPr>
              <a:t>Speech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FBBB8-240C-4493-9995-0BCC820B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766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Microsoft Hoda ar-EG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C1702-EEA4-4893-8573-5CF61805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1333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B1C14-72B8-4838-B172-928C6F0C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909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B99A"/>
                </a:solidFill>
              </a:defRPr>
            </a:pPr>
            <a:r>
              <a:rPr sz="1050" b="1">
                <a:solidFill>
                  <a:srgbClr val="25B99A"/>
                </a:solidFill>
              </a:rPr>
              <a:t>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AC1ACC-AEA7-4C33-965D-F91ED8E3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638"/>
                </a:solidFill>
              </a:defRPr>
            </a:pPr>
            <a:r>
              <a:rPr sz="1200" b="0">
                <a:solidFill>
                  <a:srgbClr val="1D2638"/>
                </a:solidFill>
              </a:rPr>
              <a:t>Reliable and intelligible; voice remains robotic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F9480-3C6D-434C-83FA-6E41B49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533D5-0A44-490F-A588-4333B7E0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638"/>
                </a:solidFill>
              </a:defRPr>
            </a:pPr>
            <a:r>
              <a:rPr sz="1275" b="1">
                <a:solidFill>
                  <a:srgbClr val="1D2638"/>
                </a:solidFill>
              </a:rPr>
              <a:t>Cloud benchmark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8BD5CC-E3BE-4D5A-98B1-6648031D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Gemini 2.5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38C7F-9B79-4D06-9656-2A4C2E13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76750"/>
            <a:ext cx="1333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4E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E2E3D2-91DC-4D75-9D25-4C76B24E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767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4E58"/>
                </a:solidFill>
              </a:defRPr>
            </a:pPr>
            <a:r>
              <a:rPr sz="1050" b="1">
                <a:solidFill>
                  <a:srgbClr val="D74E58"/>
                </a:solidFill>
              </a:rPr>
              <a:t>REMOVED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370556-6F9E-4F11-8637-CD718B6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638"/>
                </a:solidFill>
              </a:defRPr>
            </a:pPr>
            <a:r>
              <a:rPr sz="1200" b="0">
                <a:solidFill>
                  <a:srgbClr val="1D2638"/>
                </a:solidFill>
              </a:rPr>
              <a:t>Strong interaction; rejected for local-security target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DA8085-CA88-4ED0-A6D6-2F6E2E06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50541E-82C0-4D0E-A9E8-8F524861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638"/>
                </a:solidFill>
              </a:defRPr>
            </a:pPr>
            <a:r>
              <a:rPr sz="1275" b="1">
                <a:solidFill>
                  <a:srgbClr val="1D2638"/>
                </a:solidFill>
              </a:rPr>
              <a:t>ASR baseline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0FD8B0-CC0D-43F8-81D1-EFED967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Whisper large-v3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5DB63C-048C-40C4-A154-5560CD9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62550"/>
            <a:ext cx="1333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4E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F445AB-48AC-41A6-9CBF-8129DFCF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6255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74E58"/>
                </a:solidFill>
              </a:defRPr>
            </a:pPr>
            <a:r>
              <a:rPr sz="1050" b="1">
                <a:solidFill>
                  <a:srgbClr val="D74E58"/>
                </a:solidFill>
              </a:rPr>
              <a:t>REMOVED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E00FD5-3CAD-4A5A-8D05-C9FEBA04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638"/>
                </a:solidFill>
              </a:defRPr>
            </a:pPr>
            <a:r>
              <a:rPr sz="1200" b="0">
                <a:solidFill>
                  <a:srgbClr val="1D2638"/>
                </a:solidFill>
              </a:rPr>
              <a:t>Accurate but too slow for phrase-by-phrase CPU use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2EBB05-DE8D-4748-960D-8CDDE1AC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8C72BE-F77B-4A58-8105-1E4C8B37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05513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EFB13-EDB3-42DF-B5F7-1F49ADF0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04 / TTS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C0B4F-8F73-47EC-B885-6172AE91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Natural Egyptian speech remains the largest unresolved quality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1BFF-3358-493F-B40F-2E591F08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4E58"/>
          </a:solidFill>
          <a:ln xmlns:a="http://schemas.openxmlformats.org/drawingml/2006/main" w="0">
            <a:solidFill>
              <a:srgbClr val="D74E5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FC363-B507-4864-83EE-2C3182C1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Chatterbox V3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9F478-554B-4EC2-BAAE-BFC79E3C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09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4E58"/>
                </a:solidFill>
              </a:defRPr>
            </a:pPr>
            <a:r>
              <a:rPr sz="1350" b="1">
                <a:solidFill>
                  <a:srgbClr val="D74E58"/>
                </a:solidFill>
              </a:rPr>
              <a:t>Failed Arabic intelligibility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73EC1-3C55-401B-A511-A53823FE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Generated speech did not round-trip to the requested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031C0-4778-409F-A82F-401E6013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4E58"/>
          </a:solidFill>
          <a:ln xmlns:a="http://schemas.openxmlformats.org/drawingml/2006/main" w="0">
            <a:solidFill>
              <a:srgbClr val="D74E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2BF13-7C69-4A7B-878B-4F67AC2C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Egyptian Chatterbox 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73952-0E72-47A9-809D-D17DB5A2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9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4E58"/>
                </a:solidFill>
              </a:defRPr>
            </a:pPr>
            <a:r>
              <a:rPr sz="1350" b="1">
                <a:solidFill>
                  <a:srgbClr val="D74E58"/>
                </a:solidFill>
              </a:rPr>
              <a:t>Hardware blocked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69973-24C0-41F3-AC0D-1DEBA26C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Four-gigabyte GPU ran out of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840F6-A567-4E52-AB25-66CA3681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4E58"/>
          </a:solidFill>
          <a:ln xmlns:a="http://schemas.openxmlformats.org/drawingml/2006/main" w="0">
            <a:solidFill>
              <a:srgbClr val="D74E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F6E17-CB14-444B-9607-1CB228B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10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Nile-XTTS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F1417-F534-45B7-BF05-0B05DFB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10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4E58"/>
                </a:solidFill>
              </a:defRPr>
            </a:pPr>
            <a:r>
              <a:rPr sz="1350" b="1">
                <a:solidFill>
                  <a:srgbClr val="D74E58"/>
                </a:solidFill>
              </a:rPr>
              <a:t>Failed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761A9-5E99-4B02-988C-78E83B16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00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Official simple phrase returned incorrect Arabic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3B84E7-03DF-4E3D-B334-9B63CBC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99A"/>
          </a:solidFill>
          <a:ln xmlns:a="http://schemas.openxmlformats.org/drawingml/2006/main" w="0">
            <a:solidFill>
              <a:srgbClr val="25B9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38352-3C5C-42E8-ACBB-672B031E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Microsoft Hoda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219F9-FF63-4701-842F-FCFEC6F5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0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B99A"/>
                </a:solidFill>
              </a:defRPr>
            </a:pPr>
            <a:r>
              <a:rPr sz="1350" b="1">
                <a:solidFill>
                  <a:srgbClr val="25B99A"/>
                </a:solidFill>
              </a:rPr>
              <a:t>Operational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0D550-8914-4FB1-B7C8-8D2CB95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89"/>
                </a:solidFill>
              </a:defRPr>
            </a:pPr>
            <a:r>
              <a:rPr sz="1275" b="0">
                <a:solidFill>
                  <a:srgbClr val="657189"/>
                </a:solidFill>
              </a:rPr>
              <a:t>Correct words and stable local synthesis; synthetic accent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DE598D-A2D4-4950-833A-E9640873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0D09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897D53-6BA1-4343-87D8-E486B805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638"/>
                </a:solidFill>
              </a:defRPr>
            </a:pPr>
            <a:r>
              <a:rPr sz="1350" b="1">
                <a:solidFill>
                  <a:srgbClr val="1D2638"/>
                </a:solidFill>
              </a:rPr>
              <a:t>Decision: keep Hoda for reliability; train a custom voice only with sufficient consented Egyptian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08169-E167-4C50-B1A0-B04A4812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DA597-9B4F-4D13-9AE9-C5776206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9261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58759-CD0B-4E85-B3E7-2BADD45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05 /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31044-4F92-43A7-981A-AAE5811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Round-trip tests blocked broken TTS from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35773-AB3B-4346-B8F1-B5EAAEC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Generated audio was transcribed back through QwenCleo and compared with the requested sentence.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91F0D-751D-4C8A-8E12-B30BC04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FF8F7"/>
          </a:solidFill>
          <a:ln xmlns:a="http://schemas.openxmlformats.org/drawingml/2006/main" w="9525">
            <a:solidFill>
              <a:srgbClr val="B8E7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9F41A-7075-448C-BCC3-6C6C2EA4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B99A"/>
                </a:solidFill>
              </a:defRPr>
            </a:pPr>
            <a:r>
              <a:rPr sz="1275" b="1">
                <a:solidFill>
                  <a:srgbClr val="25B99A"/>
                </a:solidFill>
              </a:rPr>
              <a:t>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32169-3BB9-4174-BFB6-F3D98CE7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Hoda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53FD6D-A5FE-48B2-B4B2-0C1CD4D6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Requested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C2ECC-140D-43D6-B38B-9E71F104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28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638"/>
                </a:solidFill>
              </a:defRPr>
            </a:pPr>
            <a:r>
              <a:rPr sz="1350" b="1">
                <a:solidFill>
                  <a:srgbClr val="1D2638"/>
                </a:solidFill>
              </a:rPr>
              <a:t>Collections greeting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B31F1-44BD-4FA9-920D-0C5B164D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Recovered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A4684-B2A3-46AF-8447-3AACA43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48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638"/>
                </a:solidFill>
              </a:defRPr>
            </a:pPr>
            <a:r>
              <a:rPr sz="1350" b="1">
                <a:solidFill>
                  <a:srgbClr val="1D2638"/>
                </a:solidFill>
              </a:rPr>
              <a:t>Nearly complete sentence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CD705-AC53-4808-8665-FBFFCC1A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571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3F4"/>
          </a:solidFill>
          <a:ln xmlns:a="http://schemas.openxmlformats.org/drawingml/2006/main" w="9525">
            <a:solidFill>
              <a:srgbClr val="F1C1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0B6C29-0E22-4CBA-9418-7B0E33AE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4E58"/>
                </a:solidFill>
              </a:defRPr>
            </a:pPr>
            <a:r>
              <a:rPr sz="1275" b="1">
                <a:solidFill>
                  <a:srgbClr val="D74E58"/>
                </a:solidFill>
              </a:rPr>
              <a:t>REJECTED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3C793-B7BB-422A-BD2A-B8D9A407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Chatterbox + Nile-XTTS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8014E-5DBF-4A9D-BD79-37B2CCFA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Observed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8F565-1DF6-4675-BF0B-72A3C8BA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638"/>
                </a:solidFill>
              </a:defRPr>
            </a:pPr>
            <a:r>
              <a:rPr sz="1350" b="1">
                <a:solidFill>
                  <a:srgbClr val="1D2638"/>
                </a:solidFill>
              </a:rPr>
              <a:t>Semantically unrelated Arabic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437F4-0640-41FD-8ACF-1675D03C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386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189"/>
                </a:solidFill>
              </a:defRPr>
            </a:pPr>
            <a:r>
              <a:rPr sz="1200" b="1">
                <a:solidFill>
                  <a:srgbClr val="657189"/>
                </a:solidFill>
              </a:rPr>
              <a:t>Impact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37792-D03B-47EE-9036-640D8F63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638"/>
                </a:solidFill>
              </a:defRPr>
            </a:pPr>
            <a:r>
              <a:rPr sz="1350" b="1">
                <a:solidFill>
                  <a:srgbClr val="1D2638"/>
                </a:solidFill>
              </a:rPr>
              <a:t>Not connected to production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8B934-6E1C-4DC5-A484-92E862AB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BD6"/>
                </a:solidFill>
              </a:defRPr>
            </a:pPr>
            <a:r>
              <a:rPr sz="1500" b="1">
                <a:solidFill>
                  <a:srgbClr val="315BD6"/>
                </a:solidFill>
              </a:rPr>
              <a:t>Quality 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10A81-127F-4703-87CC-2E3EF701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911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 file existing is not success. The spoken words must survive ASR verification.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E61B7-1830-4BFD-8AB0-58A01933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5BE52-7519-498E-95D2-9E39B494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90599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BDF1D5-0F47-4E13-904A-3A80F5E4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06 / WHY BUGS APPEARED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850D5-86F4-42DB-A8C0-A98DD210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Prototype speed outpaced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771AB-D465-49EB-8DAA-85ADDA92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2793D-9068-4C42-9904-F0703A70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421C3-9F06-410E-AB26-C8EEFB3C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FB855-903C-4334-8347-82B07DD6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Model churn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71EBC-4567-4988-A1B7-134B097F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9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Whisper, Deepgram, QwenCleo, Gemini, multiple local TTS engines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9B23C-0D9E-47A4-9831-C529A3E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98937-9F5E-421E-A927-398F2A1C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CAD02-FFDB-4ECD-AF5A-2E60A08B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D2063-86D5-4665-B8FA-1F5A4A8C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Resource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09B21-1280-4A6E-A007-3EF172E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CPU latency, four-gigabyte VRAM, full C: drive, competing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24D82-7011-41A3-92B0-073EF653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E9EFA-5D64-490C-985E-7925C0AC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2305B-741E-41AA-AB90-1FEFCD24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942C8-915F-45F2-A079-A875C37B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State complexity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DA5EB-1D00-432B-BCFF-D086F539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Identity, dates, objections, retries, silence, and call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49A995-9944-485D-B749-953BF876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57A729-F2F5-4D40-90DC-A2F7A8F0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5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D7DB1-12FA-40D4-9C6F-6DBA5741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3E1CD-69E3-4E79-A431-0C850CA8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243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Legacy bypasses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ECA0D-18DB-422A-B931-99EEA09A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243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Older canned intent logic ignored the active prompt 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EAD6E-3807-40A8-9E97-3497BF36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3AF3F0-5489-40E0-BF62-96968B20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F61AC-ABC6-4368-B09F-4A5D63B3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8B8EE-9488-46A9-946A-F3FC4FB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Arabic edge cases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07774F-49E2-4357-BC14-77BAB4EB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62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Negation, relative dates, dialect, ASR noise, and encoding issues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21307-08C5-4BE8-92C9-9EE46741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00955-9B6A-4FF2-A7F1-564FAD6C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8220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3A6B3-99C7-4A4F-AA16-51D1041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07 / CONVERSATION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691B1-B400-4B5F-B711-93B860E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original prompt remains the source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09071-83D5-44BC-AFB8-507B2788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095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4FF"/>
          </a:solidFill>
          <a:ln xmlns:a="http://schemas.openxmlformats.org/drawingml/2006/main" w="9525">
            <a:solidFill>
              <a:srgbClr val="CAD5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826F5-9CDF-4BC3-A713-32A3E311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59F5"/>
                </a:solidFill>
              </a:defRPr>
            </a:pPr>
            <a:r>
              <a:rPr sz="1275" b="1">
                <a:solidFill>
                  <a:srgbClr val="7059F5"/>
                </a:solidFill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049F4-E25F-4B9C-89CE-77896AB4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Role and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D3083-FB42-4259-88B6-D2AD7875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Identity routing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Borrower vs guarantor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Objections and relay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Human tone and phrasing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Special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516EE-A490-43D4-8E39-325343E2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47850"/>
            <a:ext cx="2857500" cy="3524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F0D6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37299-AD7D-41F1-A108-8049C8C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33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A92A"/>
                </a:solidFill>
              </a:defRPr>
            </a:pPr>
            <a:r>
              <a:rPr sz="1275" b="1">
                <a:solidFill>
                  <a:srgbClr val="E7A92A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1BD96-58F8-4F79-89F5-EBABFC3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47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Conversation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4E9DB-6CAD-4BBE-B9A1-CDF4AADD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623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Current step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Speaker role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Pushback counter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Pending date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Escalation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DE7A5-C2B6-4191-9D1B-24A05B75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3028950" cy="3524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B8E7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B97F5-702D-4A78-A989-416D5CCB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B99A"/>
                </a:solidFill>
              </a:defRPr>
            </a:pPr>
            <a:r>
              <a:rPr sz="1275" b="1">
                <a:solidFill>
                  <a:srgbClr val="25B99A"/>
                </a:solidFill>
              </a:rPr>
              <a:t>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9670E-EAE2-464D-8549-ACC0DA92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Non-negotiable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16FBF-B802-4175-B018-B0618E39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Two-day date window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No invented payment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No unverified disclosure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Database write validation</a:t>
            </a:r>
          </a:p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Safe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4FC67-4CAF-4AC4-B41B-5AAF8407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Prompt guides language. State tracks the call. Code authorizes 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AFF02-1B92-46DE-AC7A-6DADB6AE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294CA-7164-44B7-B655-DEEDB6E7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3452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AB173F-3C8F-47FB-8C72-9A0F0D8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08 / 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1AFCE-B8B7-4121-8999-9B566B8F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Core functions work; fidelity needs stabilization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75BBD-FC53-4977-9EB3-1C084DBB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B99A"/>
                </a:solidFill>
              </a:defRPr>
            </a:pPr>
            <a:r>
              <a:rPr sz="1350" b="1">
                <a:solidFill>
                  <a:srgbClr val="25B99A"/>
                </a:solidFill>
              </a:rPr>
              <a:t>WORKING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1C841-8CB3-4635-8438-34D1470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A92A"/>
                </a:solidFill>
              </a:defRPr>
            </a:pPr>
            <a:r>
              <a:rPr sz="1350" b="1">
                <a:solidFill>
                  <a:srgbClr val="E7A92A"/>
                </a:solidFill>
              </a:rPr>
              <a:t>NEEDS STABILIZATION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FC0C9-7CC8-4550-9C76-AC3041FF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B99A"/>
                </a:solidFill>
              </a:defRPr>
            </a:pPr>
            <a:r>
              <a:rPr sz="1650" b="1">
                <a:solidFill>
                  <a:srgbClr val="25B99A"/>
                </a:solidFill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E0457-3495-4A85-97CB-042B78B9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QwenCleo live transcription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968C7-95CF-4C2C-AE8A-A8F52B19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B99A"/>
                </a:solidFill>
              </a:defRPr>
            </a:pPr>
            <a:r>
              <a:rPr sz="1650" b="1">
                <a:solidFill>
                  <a:srgbClr val="25B99A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ADCEE-346E-400D-A32B-D219DF7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Silence-triggered phrase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FB4A7-07D8-44A7-8AC4-5DD401FE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B99A"/>
                </a:solidFill>
              </a:defRPr>
            </a:pPr>
            <a:r>
              <a:rPr sz="1650" b="1">
                <a:solidFill>
                  <a:srgbClr val="25B99A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04A18-731E-4CD9-8297-D5E47CDD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Qwen3 local conversation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F8135-DEE1-4AEF-805B-60136E36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B99A"/>
                </a:solidFill>
              </a:defRPr>
            </a:pPr>
            <a:r>
              <a:rPr sz="1650" b="1">
                <a:solidFill>
                  <a:srgbClr val="25B99A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96B52-CA8E-4476-8E5F-B1ADD3DB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Hoda dynamic speech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9E0C8-4D3D-428E-9E9C-99D84412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B99A"/>
                </a:solidFill>
              </a:defRPr>
            </a:pPr>
            <a:r>
              <a:rPr sz="1650" b="1">
                <a:solidFill>
                  <a:srgbClr val="25B99A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61ADC-5902-42D3-BC50-54FE78F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Local payment-promise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CF42D-DCFA-4700-900C-17A8FBA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B99A"/>
                </a:solidFill>
              </a:defRPr>
            </a:pPr>
            <a:r>
              <a:rPr sz="1650" b="1">
                <a:solidFill>
                  <a:srgbClr val="25B99A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85AEC-8F14-400C-8F43-3D2D7C9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Simplified call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515FB-DDDD-4C89-BA95-1A942F1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A92A"/>
                </a:solidFill>
              </a:defRPr>
            </a:pPr>
            <a:r>
              <a:rPr sz="1650" b="1">
                <a:solidFill>
                  <a:srgbClr val="E7A92A"/>
                </a:solidFill>
              </a:rPr>
              <a:t>!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AFA32-CF36-41DB-8E48-6C5ED734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Original prompt variable binding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1A0242-B359-4286-AF58-F8272A6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A92A"/>
                </a:solidFill>
              </a:defRPr>
            </a:pPr>
            <a:r>
              <a:rPr sz="1650" b="1">
                <a:solidFill>
                  <a:srgbClr val="E7A92A"/>
                </a:solidFill>
              </a:rPr>
              <a:t>!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E255E-CBE0-416E-9E08-3E6A2DC4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Full borrower / guarantor state machine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539F2-6CDE-4620-8429-FCDE1F9C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A92A"/>
                </a:solidFill>
              </a:defRPr>
            </a:pPr>
            <a:r>
              <a:rPr sz="1650" b="1">
                <a:solidFill>
                  <a:srgbClr val="E7A92A"/>
                </a:solidFill>
              </a:rPr>
              <a:t>!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E0991-2214-4F71-95C5-A415192B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Systematic Egyptian intent test suite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90120-BEC9-48C9-B35D-1CB2DCA3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A92A"/>
                </a:solidFill>
              </a:defRPr>
            </a:pPr>
            <a:r>
              <a:rPr sz="1650" b="1">
                <a:solidFill>
                  <a:srgbClr val="E7A92A"/>
                </a:solidFill>
              </a:rPr>
              <a:t>!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858EA-5F30-4A10-9FA9-E7FB8248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Prompt-adherence regression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B7706-9411-400F-926B-2A7A02BD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A92A"/>
                </a:solidFill>
              </a:defRPr>
            </a:pPr>
            <a:r>
              <a:rPr sz="1650" b="1">
                <a:solidFill>
                  <a:srgbClr val="E7A92A"/>
                </a:solidFill>
              </a:rPr>
              <a:t>!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CE5C4-C147-4FC5-A929-326B015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Telephony integration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E791F-3546-41F8-93D1-D1437233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48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7A92A"/>
                </a:solidFill>
              </a:defRPr>
            </a:pPr>
            <a:r>
              <a:rPr sz="1650" b="1">
                <a:solidFill>
                  <a:srgbClr val="E7A92A"/>
                </a:solidFill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39E22-3311-458A-8627-F0599D6B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48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638"/>
                </a:solidFill>
              </a:defRPr>
            </a:pPr>
            <a:r>
              <a:rPr sz="1425" b="0">
                <a:solidFill>
                  <a:srgbClr val="1D2638"/>
                </a:solidFill>
              </a:rPr>
              <a:t>Production-grade natural TTS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E03FC-4C45-4FCB-9EDB-6BE31D56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1C3D2C-B8F3-4659-A11B-242F5AB0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0739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A094D-6A95-414E-AB6F-FCFEFF0A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5D0"/>
                </a:solidFill>
              </a:defRPr>
            </a:pPr>
            <a:r>
              <a:rPr sz="1050" b="1">
                <a:solidFill>
                  <a:srgbClr val="38D5D0"/>
                </a:solidFill>
              </a:rPr>
              <a:t>RECOMMENDED NEXT MOVE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D3940-4C87-4CFC-839D-FBEAF70F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28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Freeze the stack. Rebuild the conversation layer around the exact prompt.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D3BBE-03C5-401A-8CCF-56F3F6A9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D3153"/>
          </a:solidFill>
          <a:ln xmlns:a="http://schemas.openxmlformats.org/drawingml/2006/main" w="9525">
            <a:solidFill>
              <a:srgbClr val="34435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5AE43-6248-4D94-AD84-B893F107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D5D0"/>
                </a:solidFill>
              </a:defRPr>
            </a:pPr>
            <a:r>
              <a:rPr sz="1200" b="1">
                <a:solidFill>
                  <a:srgbClr val="38D5D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EFEC3-A74E-4DAC-A3E4-2E6C1631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Bind customer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3111D-935B-4645-94D6-29B09729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C8DA"/>
                </a:solidFill>
              </a:defRPr>
            </a:pPr>
            <a:r>
              <a:rPr sz="1275" b="0">
                <a:solidFill>
                  <a:srgbClr val="BEC8DA"/>
                </a:solidFill>
              </a:rPr>
              <a:t>Resolve every prompt variable from a validated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63337-B821-4382-9E72-A7656185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8253D"/>
          </a:solidFill>
          <a:ln xmlns:a="http://schemas.openxmlformats.org/drawingml/2006/main" w="9525">
            <a:solidFill>
              <a:srgbClr val="3443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9B4C3-AD2F-4F0B-AEC3-7D823A76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65D"/>
                </a:solidFill>
              </a:defRPr>
            </a:pPr>
            <a:r>
              <a:rPr sz="1200" b="1">
                <a:solidFill>
                  <a:srgbClr val="FF565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7C319-0ACB-4042-A10C-45136EBA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Implement state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43DAF-FA64-474A-B379-35896675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C8DA"/>
                </a:solidFill>
              </a:defRPr>
            </a:pPr>
            <a:r>
              <a:rPr sz="1275" b="0">
                <a:solidFill>
                  <a:srgbClr val="BEC8DA"/>
                </a:solidFill>
              </a:rPr>
              <a:t>Identity → disclosure → objections → date → close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EE9C1-A22E-44F7-B46E-D9794AAD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8253D"/>
          </a:solidFill>
          <a:ln xmlns:a="http://schemas.openxmlformats.org/drawingml/2006/main" w="9525">
            <a:solidFill>
              <a:srgbClr val="3443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22A89B-5116-4094-AADF-629ED0C7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65D"/>
                </a:solidFill>
              </a:defRPr>
            </a:pPr>
            <a:r>
              <a:rPr sz="1200" b="1">
                <a:solidFill>
                  <a:srgbClr val="FF565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5B817-B92D-400F-A82D-269B46D0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Add regression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B9DFC-D1CE-4932-9092-4F08782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C8DA"/>
                </a:solidFill>
              </a:defRPr>
            </a:pPr>
            <a:r>
              <a:rPr sz="1275" b="0">
                <a:solidFill>
                  <a:srgbClr val="BEC8DA"/>
                </a:solidFill>
              </a:rPr>
              <a:t>Egyptian utterances, ASR noise, dates, and edge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BF3C9-9521-4904-B5CE-EC0B80E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8253D"/>
          </a:solidFill>
          <a:ln xmlns:a="http://schemas.openxmlformats.org/drawingml/2006/main" w="9525">
            <a:solidFill>
              <a:srgbClr val="3443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7A76C-37E2-42CF-97CD-4CE4C008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65D"/>
                </a:solidFill>
              </a:defRPr>
            </a:pPr>
            <a:r>
              <a:rPr sz="1200" b="1">
                <a:solidFill>
                  <a:srgbClr val="FF565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D013A-770D-4BFF-944E-E6AC716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924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Run end-to-end calls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AAC46-56D7-4291-80CD-56887C3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EC8DA"/>
                </a:solidFill>
              </a:defRPr>
            </a:pPr>
            <a:r>
              <a:rPr sz="1275" b="0">
                <a:solidFill>
                  <a:srgbClr val="BEC8DA"/>
                </a:solidFill>
              </a:rPr>
              <a:t>Measure latency, accuracy, adherence, and failure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71A28-3C2E-4E27-B97D-0A99069D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D0"/>
                </a:solidFill>
              </a:defRPr>
            </a:pPr>
            <a:r>
              <a:rPr sz="1350" b="1">
                <a:solidFill>
                  <a:srgbClr val="38D5D0"/>
                </a:solidFill>
              </a:rPr>
              <a:t>Target outcome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83B2D-56EE-412D-A90B-CF471091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197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testable local agent—not another model experiment.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DA581-1C6F-483F-9D37-05802564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19C14-0145-4DAD-835F-EF40A9DB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89986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340910-03CB-4C07-916F-20DA88C1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09 / END-TO-END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5BD90-2136-4A59-83D5-590548B3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Every customer turn moves through eight controlled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EB93C-AA8F-4ACC-A705-78368656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Pre-trained models provide language capability; application logic controls the financial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ABDCB-EE50-42B2-AE41-0B1084D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5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F741B-0D8A-4987-A415-B0D8B30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565D"/>
                </a:solidFill>
              </a:defRPr>
            </a:pPr>
            <a:r>
              <a:rPr sz="975" b="1">
                <a:solidFill>
                  <a:srgbClr val="FF56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6A408-F902-486D-A887-24EB9B41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65D"/>
                </a:solidFill>
              </a:defRPr>
            </a:pPr>
            <a:r>
              <a:rPr sz="1050" b="1">
                <a:solidFill>
                  <a:srgbClr val="FF565D"/>
                </a:solidFill>
              </a:rPr>
              <a:t>SPEAK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67166-4F47-4B71-AED2-8FF46BD9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Customer audio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0066C-118D-4646-B2EA-C012E262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19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BD6"/>
                </a:solidFill>
              </a:defRPr>
            </a:pPr>
            <a:r>
              <a:rPr sz="19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6AB15-B62C-4CB2-8CA2-7DDD7328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621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ED9B9-BD34-4F92-B3BD-2EDDAFF1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C91F3-4D7B-44D2-A38C-7CEFBBF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BD6"/>
                </a:solidFill>
              </a:defRPr>
            </a:pPr>
            <a:r>
              <a:rPr sz="1050" b="1">
                <a:solidFill>
                  <a:srgbClr val="315BD6"/>
                </a:solidFill>
              </a:rPr>
              <a:t>DETECT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49B60-3427-49B0-BBA4-16F64DD0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Speech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DA9A5-2825-412B-813E-232B4E0A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BD6"/>
                </a:solidFill>
              </a:defRPr>
            </a:pPr>
            <a:r>
              <a:rPr sz="19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D9DF4-6D81-46D9-A3DB-7A103B38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8D5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F5477-F6DC-4726-9491-0ED15A99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D5D0"/>
                </a:solidFill>
              </a:defRPr>
            </a:pPr>
            <a:r>
              <a:rPr sz="975" b="1">
                <a:solidFill>
                  <a:srgbClr val="38D5D0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E45E0-0719-4567-9356-C00E192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D5D0"/>
                </a:solidFill>
              </a:defRPr>
            </a:pPr>
            <a:r>
              <a:rPr sz="1050" b="1">
                <a:solidFill>
                  <a:srgbClr val="38D5D0"/>
                </a:solidFill>
              </a:rPr>
              <a:t>TRANSCRIBE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974B0-7157-4432-A774-5B00936C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QwenCleo-ASR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50317-8774-465B-8A6A-8274BEB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BD6"/>
                </a:solidFill>
              </a:defRPr>
            </a:pPr>
            <a:r>
              <a:rPr sz="19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A530C-68A5-442E-90CA-43903045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9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4C6AA-2D44-4021-9EEE-08A61837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2A"/>
                </a:solidFill>
              </a:defRPr>
            </a:pPr>
            <a:r>
              <a:rPr sz="975" b="1">
                <a:solidFill>
                  <a:srgbClr val="E7A92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10638-38F4-4DA2-858C-0A4E8359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A92A"/>
                </a:solidFill>
              </a:defRPr>
            </a:pPr>
            <a:r>
              <a:rPr sz="1050" b="1">
                <a:solidFill>
                  <a:srgbClr val="E7A92A"/>
                </a:solidFill>
              </a:rPr>
              <a:t>TRACK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A7F07-6C30-42AA-8B31-EC82CEC4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9555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Python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647EE-2806-4985-8D59-21F6116F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59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6F5B9-2841-4E0F-980B-F3B650AE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059F5"/>
                </a:solidFill>
              </a:defRPr>
            </a:pPr>
            <a:r>
              <a:rPr sz="975" b="1">
                <a:solidFill>
                  <a:srgbClr val="7059F5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7A492-CC13-4ED6-9A92-0707D4AE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59F5"/>
                </a:solidFill>
              </a:defRPr>
            </a:pPr>
            <a:r>
              <a:rPr sz="1050" b="1">
                <a:solidFill>
                  <a:srgbClr val="7059F5"/>
                </a:solidFill>
              </a:rPr>
              <a:t>RESPOND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9EE1B3-9058-46FC-B952-3072C746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Qwen3-4B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0F956-27A9-414D-B1C9-90D8F436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29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BD6"/>
                </a:solidFill>
              </a:defRPr>
            </a:pPr>
            <a:r>
              <a:rPr sz="19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4C53D-12B6-4612-8632-95CAF88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719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4E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B9F489-605D-4022-A8C7-F145A5AC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4E58"/>
                </a:solidFill>
              </a:defRPr>
            </a:pPr>
            <a:r>
              <a:rPr sz="975" b="1">
                <a:solidFill>
                  <a:srgbClr val="D74E58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ADFD8-24C9-4CAC-AB83-50DF91A3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4E58"/>
                </a:solidFill>
              </a:defRPr>
            </a:pPr>
            <a:r>
              <a:rPr sz="1050" b="1">
                <a:solidFill>
                  <a:srgbClr val="D74E58"/>
                </a:solidFill>
              </a:rPr>
              <a:t>VALIDATE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6403F-24B9-4FBB-A872-B1EB3BD5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Guardrails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7AB48F-19EE-4FF1-81F6-BE9431DE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29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BD6"/>
                </a:solidFill>
              </a:defRPr>
            </a:pPr>
            <a:r>
              <a:rPr sz="19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FA1115-064D-458D-AA65-E4A8EC37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4F6ECA-DCF3-4CC2-B016-957D979E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B99A"/>
                </a:solidFill>
              </a:defRPr>
            </a:pPr>
            <a:r>
              <a:rPr sz="975" b="1">
                <a:solidFill>
                  <a:srgbClr val="25B99A"/>
                </a:solidFill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A1785D-828C-4DB6-A44F-08226125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B99A"/>
                </a:solidFill>
              </a:defRPr>
            </a:pPr>
            <a:r>
              <a:rPr sz="1050" b="1">
                <a:solidFill>
                  <a:srgbClr val="25B99A"/>
                </a:solidFill>
              </a:rPr>
              <a:t>SPEAK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3FC77C-47BF-4D12-933F-56890F93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Hoda TTS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137B82-38BF-4331-9D75-2B4B0D9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291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15BD6"/>
                </a:solidFill>
              </a:defRPr>
            </a:pPr>
            <a:r>
              <a:rPr sz="19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4B8AF1-3E2A-4B16-B90A-E19A157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381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883969-7223-4655-AE3F-19C6B0E1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B0CE98-FE5C-403D-88FC-E156196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05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SAVE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02D24A-89BE-409D-BBEA-6E4EB7D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SQLite record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8AC061-449C-46B2-8E46-C24B8C9F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C8A286-2986-42AB-944D-4F1A4E82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Only a validated, explicitly confirmed promise reaches permanent storage.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A7BE64-9A36-4241-9515-1BBC75F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C8FB87-8E71-419D-9B03-B139F0CE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14125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71E72-4C94-4D45-AB0A-DEF46ED5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10 / SPEECH RECOGNITION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4F704-0930-4044-ABF5-10CDBDC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QwenCleo-ASR turns Egyptian speech into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122AE-5A16-416B-A33C-89D0E1B1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It listens and writes; it does not reason, approve actions, or answer the customer.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25A3C-5BBC-407D-94C4-40D5701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95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FF8F7"/>
          </a:solidFill>
          <a:ln xmlns:a="http://schemas.openxmlformats.org/drawingml/2006/main" w="9525">
            <a:solidFill>
              <a:srgbClr val="B8E7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B1FA3-D043-4423-B90B-60A076B2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B99A"/>
                </a:solidFill>
              </a:defRPr>
            </a:pPr>
            <a:r>
              <a:rPr sz="1200" b="1">
                <a:solidFill>
                  <a:srgbClr val="25B99A"/>
                </a:solidFill>
              </a:rPr>
              <a:t>PRE-TRAINED ASR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82CD3-AE77-4FC9-9732-EFDDEC04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Customer audio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CFC55-E514-4BF7-88E3-2C4D530F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D5D0"/>
                </a:solidFill>
              </a:defRPr>
            </a:pPr>
            <a:r>
              <a:rPr sz="1200" b="1">
                <a:solidFill>
                  <a:srgbClr val="38D5D0"/>
                </a:solidFill>
              </a:rPr>
              <a:t>DOWN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A03E9-1D27-4A03-8D70-D2C28F6A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Egyptian Arabic transcript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7B5C9-A085-46FB-A1BF-6063EC91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Its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72800-0D69-41A4-A09A-8CBEA714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47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5D0"/>
          </a:solidFill>
          <a:ln xmlns:a="http://schemas.openxmlformats.org/drawingml/2006/main" w="0">
            <a:solidFill>
              <a:srgbClr val="38D5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656BF-3799-4F1A-A5FD-8485D718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95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Receive microphone audio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6150D-91E6-41E1-913C-78112174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5D0"/>
          </a:solidFill>
          <a:ln xmlns:a="http://schemas.openxmlformats.org/drawingml/2006/main" w="0">
            <a:solidFill>
              <a:srgbClr val="38D5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34008-64B8-4707-A9A1-C3395ADD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289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Recognize Egyptian Arabic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39F4D-D1E9-4C91-99D1-593A7582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5D0"/>
          </a:solidFill>
          <a:ln xmlns:a="http://schemas.openxmlformats.org/drawingml/2006/main" w="0">
            <a:solidFill>
              <a:srgbClr val="38D5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F4586-2315-47D1-A26C-2A3BAA26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623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Handle some Arabic-English code-switching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696F6-BE11-4BE0-8F77-5EA41597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5D0"/>
          </a:solidFill>
          <a:ln xmlns:a="http://schemas.openxmlformats.org/drawingml/2006/main" w="0">
            <a:solidFill>
              <a:srgbClr val="38D5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3B3F4-857E-4DE8-913F-16FF8C94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95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638"/>
                </a:solidFill>
              </a:defRPr>
            </a:pPr>
            <a:r>
              <a:rPr sz="1500" b="0">
                <a:solidFill>
                  <a:srgbClr val="1D2638"/>
                </a:solidFill>
              </a:rPr>
              <a:t>Produce a written transcript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29F89-B483-4A3F-953A-5320380A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6172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F4"/>
          </a:solidFill>
          <a:ln xmlns:a="http://schemas.openxmlformats.org/drawingml/2006/main" w="9525">
            <a:solidFill>
              <a:srgbClr val="F1C1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96234-DE56-40B9-A9E9-A6B3E37C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67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4E58"/>
                </a:solidFill>
              </a:defRPr>
            </a:pPr>
            <a:r>
              <a:rPr sz="1125" b="1">
                <a:solidFill>
                  <a:srgbClr val="D74E58"/>
                </a:solidFill>
              </a:rPr>
              <a:t>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49819-F467-4B1F-B119-E2F2DA4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911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638"/>
                </a:solidFill>
              </a:defRPr>
            </a:pPr>
            <a:r>
              <a:rPr sz="1350" b="1">
                <a:solidFill>
                  <a:srgbClr val="1D2638"/>
                </a:solidFill>
              </a:rPr>
              <a:t>Names, dates, amounts, noise, and mixed language still require testing.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96186-D958-45B5-8099-20A145D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D4464-48B4-4B1A-809A-9A3560A9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165161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52B49-0B7B-49E4-BB06-0A9D53B5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11 /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1C9B7-98D3-4231-A4B3-4FD34F26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Qwen3-4B interprets meaning and drafts the reply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DB38A-FEB6-4EA6-A237-0A54655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A quantized pre-trained LLM runs locally with Sara's prompt, conversation history, and structured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BB8CD-076F-4FBA-BE6F-9A0EC737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4FF"/>
          </a:solidFill>
          <a:ln xmlns:a="http://schemas.openxmlformats.org/drawingml/2006/main" w="9525">
            <a:solidFill>
              <a:srgbClr val="CAD5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74EBA-631F-4980-8E46-85213D5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9F5"/>
                </a:solidFill>
              </a:defRPr>
            </a:pPr>
            <a:r>
              <a:rPr sz="1200" b="1">
                <a:solidFill>
                  <a:srgbClr val="7059F5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B670C-1F6F-4206-B243-AEEDE743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361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Sara's prompt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+ current transcript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+ verified call state</a:t>
            </a:r>
          </a:p>
          <a:p xmlns:a="http://schemas.openxmlformats.org/drawingml/2006/main">
            <a:pPr algn="ctr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+ recent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DFF8E-6485-431A-BE9D-A12338D2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059F5"/>
                </a:solidFill>
              </a:defRPr>
            </a:pPr>
            <a:r>
              <a:rPr sz="2850" b="1">
                <a:solidFill>
                  <a:srgbClr val="7059F5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27C1B-8976-4F40-8B41-18FBC90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51625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59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5F75F-BF24-4663-8428-EBF67D8C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59F5"/>
                </a:solidFill>
              </a:defRPr>
            </a:pPr>
            <a:r>
              <a:rPr sz="1200" b="1">
                <a:solidFill>
                  <a:srgbClr val="7059F5"/>
                </a:solidFill>
              </a:rPr>
              <a:t>QWEN3-4B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0E7C8-2D30-4EFF-B8C5-1075D18A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2638"/>
                </a:solidFill>
              </a:defRPr>
            </a:pPr>
            <a:r>
              <a:rPr sz="1725" b="0">
                <a:solidFill>
                  <a:srgbClr val="1D2638"/>
                </a:solidFill>
              </a:rPr>
              <a:t>Understands intent</a:t>
            </a:r>
          </a:p>
          <a:p xmlns:a="http://schemas.openxmlformats.org/drawingml/2006/main">
            <a:pPr algn="l">
              <a:defRPr sz="1725" b="0">
                <a:solidFill>
                  <a:srgbClr val="1D2638"/>
                </a:solidFill>
              </a:defRPr>
            </a:pPr>
            <a:r>
              <a:rPr sz="1725" b="0">
                <a:solidFill>
                  <a:srgbClr val="1D2638"/>
                </a:solidFill>
              </a:rPr>
              <a:t>Recognizes objections</a:t>
            </a:r>
          </a:p>
          <a:p xmlns:a="http://schemas.openxmlformats.org/drawingml/2006/main">
            <a:pPr algn="l">
              <a:defRPr sz="1725" b="0">
                <a:solidFill>
                  <a:srgbClr val="1D2638"/>
                </a:solidFill>
              </a:defRPr>
            </a:pPr>
            <a:r>
              <a:rPr sz="1725" b="0">
                <a:solidFill>
                  <a:srgbClr val="1D2638"/>
                </a:solidFill>
              </a:rPr>
              <a:t>Follows current context</a:t>
            </a:r>
          </a:p>
          <a:p xmlns:a="http://schemas.openxmlformats.org/drawingml/2006/main">
            <a:pPr algn="l">
              <a:defRPr sz="1725" b="0">
                <a:solidFill>
                  <a:srgbClr val="1D2638"/>
                </a:solidFill>
              </a:defRPr>
            </a:pPr>
            <a:r>
              <a:rPr sz="1725" b="0">
                <a:solidFill>
                  <a:srgbClr val="1D2638"/>
                </a:solidFill>
              </a:rPr>
              <a:t>Drafts Egyptian Arabic</a:t>
            </a:r>
          </a:p>
          <a:p xmlns:a="http://schemas.openxmlformats.org/drawingml/2006/main">
            <a:pPr algn="l">
              <a:defRPr sz="1725" b="0">
                <a:solidFill>
                  <a:srgbClr val="1D2638"/>
                </a:solidFill>
              </a:defRPr>
            </a:pPr>
            <a:r>
              <a:rPr sz="1725" b="0">
                <a:solidFill>
                  <a:srgbClr val="1D2638"/>
                </a:solidFill>
              </a:rPr>
              <a:t>Handles unexpected wording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0A333-AF2B-4CDB-8F2D-A41625E6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F0D6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92438-2A41-4C40-862C-0693C59A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Quantization reduces memory use, but the smaller model still needs prompt and state safeguards.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E0C7A-EBF6-43D2-899C-6CC758C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2A442-E805-47E5-A95C-58E286C9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14130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C0D1C-5443-4F46-BD05-E47D1B0D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12 / SPEECH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A16E1-FFA7-4F3C-8C46-48A85FB4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Microsoft Hoda converts Sara's answer into audible Arabic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F866B-7E8F-4240-A33D-9B3E82D3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The current TTS baseline prioritizes local reliability over highly natural Egyptian expression.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043EC-AB83-4200-9B29-AE04FD7C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59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2911B-086F-48F4-B4B3-2E1A90E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059F5"/>
                </a:solidFill>
              </a:defRPr>
            </a:pPr>
            <a:r>
              <a:rPr sz="1125" b="1">
                <a:solidFill>
                  <a:srgbClr val="7059F5"/>
                </a:solidFill>
              </a:rPr>
              <a:t>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F8098-C2EE-4586-8DBD-A22FEADC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Sara's approved reply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B7501-01A0-4EC7-9F59-8E7A1869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D5D0"/>
                </a:solidFill>
              </a:defRPr>
            </a:pPr>
            <a:r>
              <a:rPr sz="2250" b="1">
                <a:solidFill>
                  <a:srgbClr val="38D5D0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21338-4244-495D-A94C-66AFCA4E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48934-908A-456C-AB4A-6F933B01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B99A"/>
                </a:solidFill>
              </a:defRPr>
            </a:pPr>
            <a:r>
              <a:rPr sz="1125" b="1">
                <a:solidFill>
                  <a:srgbClr val="25B99A"/>
                </a:solidFill>
              </a:rPr>
              <a:t>TTS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1081C-0DBB-42D9-9C22-6EF3237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Microsoft Hoda ar-EG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228A6-2A3D-42B9-B005-C84F5DCE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D5D0"/>
                </a:solidFill>
              </a:defRPr>
            </a:pPr>
            <a:r>
              <a:rPr sz="2250" b="1">
                <a:solidFill>
                  <a:srgbClr val="38D5D0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D17D1-9C23-46DC-9485-5FD45B06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B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71086-0C0C-4984-96BF-9A74D595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3365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BD6"/>
                </a:solidFill>
              </a:defRPr>
            </a:pPr>
            <a:r>
              <a:rPr sz="1125" b="1">
                <a:solidFill>
                  <a:srgbClr val="315BD6"/>
                </a:solidFill>
              </a:rPr>
              <a:t>AUDIO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AD338-3E0E-4D09-9E9A-613241F1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Customer hears Sara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09B50-CE67-4CBA-B120-DB5B9ADA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F3FB"/>
          </a:solidFill>
          <a:ln xmlns:a="http://schemas.openxmlformats.org/drawingml/2006/main" w="9525">
            <a:solidFill>
              <a:srgbClr val="C9D8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F70A8-E04D-4866-AE17-10511A19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BD6"/>
                </a:solidFill>
              </a:defRPr>
            </a:pPr>
            <a:r>
              <a:rPr sz="1275" b="1">
                <a:solidFill>
                  <a:srgbClr val="315BD6"/>
                </a:solidFill>
              </a:rPr>
              <a:t>Current trade-off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53E00-FB71-4C03-990F-108F40B7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638"/>
                </a:solidFill>
              </a:defRPr>
            </a:pPr>
            <a:r>
              <a:rPr sz="1500" b="1">
                <a:solidFill>
                  <a:srgbClr val="1D2638"/>
                </a:solidFill>
              </a:rPr>
              <a:t>Reliable and intelligible local output; less natural and less Egyptian than commercial voices such as ElevenLabs.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69BB3-F09E-44AB-B300-4F402FB0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A6023A-6CFA-4199-A724-B774CD26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316072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336A7-EFF5-4709-A297-21CFC508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13 / CONVERSATION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8085B-EE74-4D69-B6CC-8CA82EDA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Python state machine determines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0A4F-D62E-491B-B045-5EDD055E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It prevents the LLM from skipping identity, accepting an invalid date, or saving an unconfirmed promise.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5B1D9-5F17-45F4-9DFB-D1E0E89E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390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B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4F639-9B08-46B4-B193-A4D5EC5C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5BBEA-FF60-4D88-901E-27FD4954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6DDF2-C2AC-4C47-AC71-36A79EB5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0300"/>
            <a:ext cx="1390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8D5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0B483-57D2-4F66-B482-E40CCF08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908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08188-15AD-474B-B0B8-B0CF1F15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FAD2B-4A78-41AB-955A-C71A922B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1390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59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5C418-B3EC-401D-8002-64043D9E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908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DISCUSS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45449-8DE3-40EC-A0DE-6B6716C2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3C517-AEC0-4657-B37E-6E645A8A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00300"/>
            <a:ext cx="1390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A9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709D9-5557-4247-9958-513AD15E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908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CAPTURE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F8256-250C-4ADC-AE34-BE157A2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CF4C4-E811-4EFB-B08E-F063581E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1390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56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4F051-A7A6-4C72-AE7D-59164EAA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908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CONFIRM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92C30C-A2B0-4FE1-9131-D01A2846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0B2E5-842B-48A3-9667-C05281E2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1390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250BD-1F4F-4DED-A9B5-EC625072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908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SAVE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PROMISE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41C63-6F7D-4175-B80F-0E480057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22A69-DF67-4926-A03C-DB729F8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00300"/>
            <a:ext cx="13906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DA4126-437C-4050-B20A-8A1D57D6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90800"/>
            <a:ext cx="1200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E9C90B-6227-4F5F-8A5C-6E863AF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067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1F4FF"/>
          </a:solidFill>
          <a:ln xmlns:a="http://schemas.openxmlformats.org/drawingml/2006/main" w="9525">
            <a:solidFill>
              <a:srgbClr val="CAD5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8C3A3-B702-4E26-B4B8-1252CC08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59F5"/>
                </a:solidFill>
              </a:defRPr>
            </a:pPr>
            <a:r>
              <a:rPr sz="1275" b="1">
                <a:solidFill>
                  <a:srgbClr val="7059F5"/>
                </a:solidFill>
              </a:rPr>
              <a:t>Identity safeguard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1EA3CC-988A-43B7-BDF6-38ED5886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No installment details until the correct person or approved role is verified.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E1CB71-6793-4406-8C20-7E3D2DD2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5410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F0D6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683C55-F773-48C3-A7BA-1CAD559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9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A92A"/>
                </a:solidFill>
              </a:defRPr>
            </a:pPr>
            <a:r>
              <a:rPr sz="1275" b="1">
                <a:solidFill>
                  <a:srgbClr val="E7A92A"/>
                </a:solidFill>
              </a:rPr>
              <a:t>Date safeguard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4384B-FCED-465A-B2DE-4F188D0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Resolve relative dates, check policy, repeat the exact date, then require confirmation.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B4AB47-0C4C-4FE0-A789-3A020ABE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98F7EA-385A-493C-8CD4-F2A168A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69817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E6AB4-CF3D-4FC8-8095-8E7FC824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14 / PROMPT AND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F9314-CF33-4689-AD8F-887D0D2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The prompt guides behavior; Python enforces non-negotiable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5D49A-DB58-4783-AF28-BF687A79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Both layers are required because a language model can misunderstand or ignore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4EF44-33D5-43AB-A0C2-FA67701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1F4FF"/>
          </a:solidFill>
          <a:ln xmlns:a="http://schemas.openxmlformats.org/drawingml/2006/main" w="9525">
            <a:solidFill>
              <a:srgbClr val="CAD5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1EBBD-1600-41FF-A2C9-96670AB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59F5"/>
                </a:solidFill>
              </a:defRPr>
            </a:pPr>
            <a:r>
              <a:rPr sz="1275" b="1">
                <a:solidFill>
                  <a:srgbClr val="7059F5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76561-7507-4B77-BCD0-C0BDA1F6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Sara's personality and tone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Collections workflow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Borrower and guarantor handling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Objection handling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Payment restrictions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Privacy and escalation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A2CCE-7C15-4CD6-9822-6F6CD75C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54483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B8E7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891B3-0DC4-45E1-8001-99C6DCB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B99A"/>
                </a:solidFill>
              </a:defRPr>
            </a:pPr>
            <a:r>
              <a:rPr sz="1275" b="1">
                <a:solidFill>
                  <a:srgbClr val="25B99A"/>
                </a:solidFill>
              </a:rPr>
              <a:t>PYTHON GUARDRAILS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C7403-6FEF-4B1A-AC1C-73A7F367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62250"/>
            <a:ext cx="4495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Block disclosure before identity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Reject invented amounts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Validate the payment date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Require explicit confirmation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Escalate disputes and hardship</a:t>
            </a:r>
          </a:p>
          <a:p xmlns:a="http://schemas.openxmlformats.org/drawingml/2006/main">
            <a:pPr algn="l">
              <a:defRPr sz="1575" b="0">
                <a:solidFill>
                  <a:srgbClr val="1D2638"/>
                </a:solidFill>
              </a:defRPr>
            </a:pPr>
            <a:r>
              <a:rPr sz="1575" b="0">
                <a:solidFill>
                  <a:srgbClr val="1D2638"/>
                </a:solidFill>
              </a:rPr>
              <a:t>Allow only verified database writes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79788-0E53-4486-84CD-FB171450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059F5"/>
                </a:solidFill>
              </a:defRPr>
            </a:pPr>
            <a:r>
              <a:rPr sz="1725" b="1">
                <a:solidFill>
                  <a:srgbClr val="7059F5"/>
                </a:solidFill>
              </a:rPr>
              <a:t>Prompt =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E157D-59C6-49BE-97A1-82347B22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5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57189"/>
                </a:solidFill>
              </a:defRPr>
            </a:pPr>
            <a:r>
              <a:rPr sz="1950" b="1">
                <a:solidFill>
                  <a:srgbClr val="657189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CB5E4-E57D-4BEA-8D99-3C21F6A9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95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B99A"/>
                </a:solidFill>
              </a:defRPr>
            </a:pPr>
            <a:r>
              <a:rPr sz="1725" b="1">
                <a:solidFill>
                  <a:srgbClr val="25B99A"/>
                </a:solidFill>
              </a:rPr>
              <a:t>State + code = enforcement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6E363-A67C-40F3-9280-1D57592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6FB72-40B3-4FDF-8E15-D322B25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807022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F1F90-98DF-4D6B-8E4D-8541B509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15 / PERSISTENT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F37DD-C410-4E17-81AE-1F6A7CB4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SQLite saves the confirmed payment promise as structured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6802C-DE57-4116-8AF2-4355734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The prototype database is one local file; it is not stored inside VS Code or the LLM.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7A183-9EC8-4211-8B56-52495BF4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49CF5-6214-4C48-8AC0-EB593FF0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payment_promises.db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F36ED-C01D-453D-B284-DFF66438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D5D0"/>
                </a:solidFill>
              </a:defRPr>
            </a:pPr>
            <a:r>
              <a:rPr sz="1350" b="1">
                <a:solidFill>
                  <a:srgbClr val="38D5D0"/>
                </a:solidFill>
              </a:rPr>
              <a:t>D:\Mo\WhisperApp\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61F9B-EFDD-40D3-9978-5B7E9B11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EC8DA"/>
                </a:solidFill>
              </a:defRPr>
            </a:pPr>
            <a:r>
              <a:rPr sz="1350" b="0">
                <a:solidFill>
                  <a:srgbClr val="BEC8DA"/>
                </a:solidFill>
              </a:rPr>
              <a:t>Local | persistent | inspectable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81E03-9792-4653-9A40-28DBEC7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BD6"/>
                </a:solidFill>
              </a:defRPr>
            </a:pPr>
            <a:r>
              <a:rPr sz="1650" b="1">
                <a:solidFill>
                  <a:srgbClr val="315BD6"/>
                </a:solidFill>
              </a:rPr>
              <a:t>Saved fields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09019-23EB-4C7E-9128-1573BAD2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customer_id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3366D-3E12-4186-A759-5F27D9B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Customer record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AFB222-0782-4CCE-8014-63C9E057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payment_date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C0214-28B1-49B5-AAF3-BD06E21D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194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Confirmed ISO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93E82-EAAB-4925-A1DC-9ACDD1B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481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confirmed_at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C826D-9913-4035-A8A6-FAE7515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Local confirmation 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04804-98FB-4E5C-8102-D49AC612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source_text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580E1-B213-45DB-A509-5EFA72BB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Customer's original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B4C98-0EB4-4627-BB17-2C07E00C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6172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0D0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2275F-DA32-4EF7-83C0-63E0035C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19700"/>
            <a:ext cx="575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638"/>
                </a:solidFill>
              </a:defRPr>
            </a:pPr>
            <a:r>
              <a:rPr sz="1350" b="1">
                <a:solidFill>
                  <a:srgbClr val="1D2638"/>
                </a:solidFill>
              </a:rPr>
              <a:t>Production step: replace or synchronize SQLite with the approved CRM/database.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E3C8B-699A-4D3D-B6B3-3702A236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1A810-9628-4621-B7B4-2352A20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536703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AC2DFD-0812-4B2B-AC89-4B3B3A02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BD6"/>
                </a:solidFill>
              </a:defRPr>
            </a:pPr>
            <a:r>
              <a:rPr sz="975" b="1">
                <a:solidFill>
                  <a:srgbClr val="315BD6"/>
                </a:solidFill>
              </a:rPr>
              <a:t>16 / APPLICATION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6FB94-C44D-477D-84DD-CF4CBBC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Streamlit makes the complete pipeline visible and testable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49DA4-8EF7-4B6B-8EBD-663BF97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89"/>
                </a:solidFill>
              </a:defRPr>
            </a:pPr>
            <a:r>
              <a:rPr sz="1350" b="0">
                <a:solidFill>
                  <a:srgbClr val="657189"/>
                </a:solidFill>
              </a:rPr>
              <a:t>The interface coordinates recording, processing, conversation review, and audio playback.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DFF55-23E9-4FB0-B971-BB76B2A6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57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FF56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77693-3F30-4487-A07C-BB657C8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565D"/>
                </a:solidFill>
              </a:defRPr>
            </a:pPr>
            <a:r>
              <a:rPr sz="1125" b="1">
                <a:solidFill>
                  <a:srgbClr val="FF565D"/>
                </a:solidFill>
              </a:rPr>
              <a:t>CALL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021AE-DA16-4884-B512-78CAEA77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Start/end the prototype voice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D1FF3-448A-44C2-B83E-D763E307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3257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38D5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0ABEC-52EB-48F4-9F83-AC2BF7C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5D0"/>
                </a:solidFill>
              </a:defRPr>
            </a:pPr>
            <a:r>
              <a:rPr sz="1125" b="1">
                <a:solidFill>
                  <a:srgbClr val="38D5D0"/>
                </a:solidFill>
              </a:rPr>
              <a:t>TRANSCRIPT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A05E8-4464-42B4-8084-07BCB336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Show recognized Egyptian Arabic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B4EF8-2610-4555-96BD-E7E67A6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3257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7059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AF15A-D8BA-4910-8E29-B4695630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59F5"/>
                </a:solidFill>
              </a:defRPr>
            </a:pPr>
            <a:r>
              <a:rPr sz="1125" b="1">
                <a:solidFill>
                  <a:srgbClr val="7059F5"/>
                </a:solidFill>
              </a:rPr>
              <a:t>CONVERSATION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797EB-A5AE-4BA5-BE17-FAF25F9F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Display customer and Sara turns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2DFE3-1066-45D0-B5D0-0187F38D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257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315B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E7B3-0B51-4281-BAD8-EE1370B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BD6"/>
                </a:solidFill>
              </a:defRPr>
            </a:pPr>
            <a:r>
              <a:rPr sz="1125" b="1">
                <a:solidFill>
                  <a:srgbClr val="315BD6"/>
                </a:solidFill>
              </a:rPr>
              <a:t>CHAT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2683E-D183-4B78-A6C6-C7226DED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Test typed follow-up messages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0352F-62C7-4F7F-A555-1EFF17D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257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6FC"/>
          </a:solidFill>
          <a:ln xmlns:a="http://schemas.openxmlformats.org/drawingml/2006/main" w="9525">
            <a:solidFill>
              <a:srgbClr val="25B9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43D8E-6E49-4D2C-BA35-89B58FA9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B99A"/>
                </a:solidFill>
              </a:defRPr>
            </a:pPr>
            <a:r>
              <a:rPr sz="1125" b="1">
                <a:solidFill>
                  <a:srgbClr val="25B99A"/>
                </a:solidFill>
              </a:rPr>
              <a:t>AUDIO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5EC38-CA86-4D2C-90A5-07409118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Play Sara's generated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647A37-DEB8-4B7F-AA1F-506BD7CD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43300"/>
            <a:ext cx="32575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E7A9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C8949-C15A-4BAA-B06B-2428EB35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7A92A"/>
                </a:solidFill>
              </a:defRPr>
            </a:pPr>
            <a:r>
              <a:rPr sz="1125" b="1">
                <a:solidFill>
                  <a:srgbClr val="E7A92A"/>
                </a:solidFill>
              </a:rPr>
              <a:t>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F5BB4-AFEB-44FD-91F8-EF714349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838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638"/>
                </a:solidFill>
              </a:defRPr>
            </a:pPr>
            <a:r>
              <a:rPr sz="1425" b="1">
                <a:solidFill>
                  <a:srgbClr val="1D2638"/>
                </a:solidFill>
              </a:rPr>
              <a:t>Expose processing and failure states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7C577-1773-4992-9DFD-F5C105B9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4CA8E-8D79-426F-8BD8-E4B3AB9F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1040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Streamlit is the interface; the models, state machine, guardrails, and database remain separate components.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56764C-EC88-4C03-9284-BFBDD163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MASRIFLOW  •  TECHNICAL PROGRESS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A2872-C3A9-41D5-8B8E-5107DFD6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57189"/>
                </a:solidFill>
              </a:defRPr>
            </a:pPr>
            <a:r>
              <a:rPr sz="825" b="1">
                <a:solidFill>
                  <a:srgbClr val="657189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08426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2026-08-18T09:11:53.6510000Z</dcterms:created>
  <dcterms:modified xsi:type="dcterms:W3CDTF">2026-08-18T09:11:53.6520000Z</dcterms:modified>
</coreProperties>
</file>